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2F7F3D-370B-416B-96FC-800D8A7C3A18}">
  <a:tblStyle styleId="{062F7F3D-370B-416B-96FC-800D8A7C3A18}" styleName="Table_0">
    <a:wholeTbl>
      <a:tcTxStyle b="off" i="off">
        <a:font>
          <a:latin typeface="Univers"/>
          <a:ea typeface="Univers"/>
          <a:cs typeface="Univer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CE8FF"/>
          </a:solidFill>
        </a:fill>
      </a:tcStyle>
    </a:wholeTbl>
    <a:band1H>
      <a:tcTxStyle/>
      <a:tcStyle>
        <a:fill>
          <a:solidFill>
            <a:srgbClr val="D7CFFF"/>
          </a:solidFill>
        </a:fill>
      </a:tcStyle>
    </a:band1H>
    <a:band2H>
      <a:tcTxStyle/>
    </a:band2H>
    <a:band1V>
      <a:tcTxStyle/>
      <a:tcStyle>
        <a:fill>
          <a:solidFill>
            <a:srgbClr val="D7CFFF"/>
          </a:solidFill>
        </a:fill>
      </a:tcStyle>
    </a:band1V>
    <a:band2V>
      <a:tcTxStyle/>
    </a:band2V>
    <a:lastCol>
      <a:tcTxStyle b="on" i="off">
        <a:font>
          <a:latin typeface="Univers"/>
          <a:ea typeface="Univers"/>
          <a:cs typeface="Univer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Univers"/>
          <a:ea typeface="Univers"/>
          <a:cs typeface="Univer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Univers"/>
          <a:ea typeface="Univers"/>
          <a:cs typeface="Univer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Univers"/>
          <a:ea typeface="Univers"/>
          <a:cs typeface="Univer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ff680000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ff680000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1bdb84378_2_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a1bdb84378_2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1bdb84378_2_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a1bdb84378_2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1bdb84378_2_1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a1bdb84378_2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1bdb84378_2_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a1bdb84378_2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1bdb84378_2_2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a1bdb84378_2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1bdb84378_2_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a1bdb84378_2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1bdb84378_2_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a1bdb84378_2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1bdb84378_2_2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a1bdb84378_2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1bdb84378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a1bdb84378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ff5f0d1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ff5f0d1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1bdb84378_2_1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a1bdb84378_2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1bdb84378_2_2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a1bdb84378_2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1bdb84378_2_1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a1bdb84378_2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1bdb84378_2_2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a1bdb84378_2_2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a1bdb84378_2_2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2700000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594869" y="1011402"/>
            <a:ext cx="3057344" cy="27411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"/>
              <a:buNone/>
              <a:defRPr b="1" sz="2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594869" y="3877840"/>
            <a:ext cx="3057344" cy="7426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/>
          <p:nvPr>
            <p:ph idx="2" type="pic"/>
          </p:nvPr>
        </p:nvSpPr>
        <p:spPr>
          <a:xfrm>
            <a:off x="4092769" y="0"/>
            <a:ext cx="5051231" cy="5143501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0" name="Google Shape;60;p14"/>
          <p:cNvCxnSpPr/>
          <p:nvPr/>
        </p:nvCxnSpPr>
        <p:spPr>
          <a:xfrm rot="10800000">
            <a:off x="594869" y="4705754"/>
            <a:ext cx="854913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842256" y="189557"/>
            <a:ext cx="3554714" cy="228195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319087" y="2661071"/>
            <a:ext cx="3554714" cy="228195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4794437" y="189557"/>
            <a:ext cx="3326041" cy="14738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  <a:defRPr sz="4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/>
          <p:nvPr>
            <p:ph idx="2" type="pic"/>
          </p:nvPr>
        </p:nvSpPr>
        <p:spPr>
          <a:xfrm>
            <a:off x="1014413" y="404813"/>
            <a:ext cx="3211116" cy="1851422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5"/>
          <p:cNvSpPr/>
          <p:nvPr>
            <p:ph idx="3" type="pic"/>
          </p:nvPr>
        </p:nvSpPr>
        <p:spPr>
          <a:xfrm>
            <a:off x="490538" y="2876550"/>
            <a:ext cx="3211116" cy="1851422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794437" y="1984442"/>
            <a:ext cx="3326041" cy="27828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68" name="Google Shape;68;p15"/>
          <p:cNvCxnSpPr/>
          <p:nvPr/>
        </p:nvCxnSpPr>
        <p:spPr>
          <a:xfrm>
            <a:off x="8689622" y="2707796"/>
            <a:ext cx="0" cy="2429046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3393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 rot="-5400000">
            <a:off x="7359087" y="1193614"/>
            <a:ext cx="266107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>
            <a:off x="8689622" y="2707796"/>
            <a:ext cx="0" cy="2429046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74" name="Google Shape;74;p16"/>
          <p:cNvSpPr/>
          <p:nvPr/>
        </p:nvSpPr>
        <p:spPr>
          <a:xfrm>
            <a:off x="144201" y="402425"/>
            <a:ext cx="4338650" cy="433865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650505" y="1834814"/>
            <a:ext cx="3326041" cy="1473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pen Sans"/>
              <a:buNone/>
              <a:defRPr sz="3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794437" y="402425"/>
            <a:ext cx="3388878" cy="433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38888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6"/>
          <p:cNvSpPr/>
          <p:nvPr/>
        </p:nvSpPr>
        <p:spPr>
          <a:xfrm>
            <a:off x="832459" y="263566"/>
            <a:ext cx="148957" cy="148957"/>
          </a:xfrm>
          <a:custGeom>
            <a:rect b="b" l="l" r="r" t="t"/>
            <a:pathLst>
              <a:path extrusionOk="0" h="139038" w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069412" y="4299639"/>
            <a:ext cx="97639" cy="97639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404417" y="804355"/>
            <a:ext cx="136824" cy="136824"/>
          </a:xfrm>
          <a:custGeom>
            <a:rect b="b" l="l" r="r" t="t"/>
            <a:pathLst>
              <a:path extrusionOk="0" h="127713" w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3393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1" type="ftr"/>
          </p:nvPr>
        </p:nvSpPr>
        <p:spPr>
          <a:xfrm rot="-5400000">
            <a:off x="7359087" y="1193614"/>
            <a:ext cx="266107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">
  <p:cSld name="Section break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189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>
            <p:ph idx="2" type="pic"/>
          </p:nvPr>
        </p:nvSpPr>
        <p:spPr>
          <a:xfrm>
            <a:off x="0" y="0"/>
            <a:ext cx="9141278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942206" y="1707329"/>
            <a:ext cx="7259586" cy="215132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  <a:defRPr b="1" sz="54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942206" y="3823691"/>
            <a:ext cx="7259587" cy="562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87" name="Google Shape;87;p17"/>
          <p:cNvCxnSpPr/>
          <p:nvPr/>
        </p:nvCxnSpPr>
        <p:spPr>
          <a:xfrm rot="10800000">
            <a:off x="-8165" y="616142"/>
            <a:ext cx="635490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" name="Google Shape;88;p17"/>
          <p:cNvSpPr/>
          <p:nvPr/>
        </p:nvSpPr>
        <p:spPr>
          <a:xfrm>
            <a:off x="408716" y="2149232"/>
            <a:ext cx="109747" cy="118453"/>
          </a:xfrm>
          <a:custGeom>
            <a:rect b="b" l="l" r="r" t="t"/>
            <a:pathLst>
              <a:path extrusionOk="0" h="139038" w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77800" y="2321206"/>
            <a:ext cx="75438" cy="75438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99690" y="2714423"/>
            <a:ext cx="96012" cy="96012"/>
          </a:xfrm>
          <a:custGeom>
            <a:rect b="b" l="l" r="r" t="t"/>
            <a:pathLst>
              <a:path extrusionOk="0" h="127713" w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, table" type="obj">
  <p:cSld name="OBJEC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93" name="Google Shape;93;p18"/>
          <p:cNvCxnSpPr/>
          <p:nvPr/>
        </p:nvCxnSpPr>
        <p:spPr>
          <a:xfrm>
            <a:off x="536917" y="267609"/>
            <a:ext cx="0" cy="4869656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0" y="0"/>
            <a:ext cx="4334933" cy="5143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4794437" y="189557"/>
            <a:ext cx="3326041" cy="361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  <a:defRPr sz="4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9"/>
          <p:cNvSpPr/>
          <p:nvPr>
            <p:ph idx="2" type="pic"/>
          </p:nvPr>
        </p:nvSpPr>
        <p:spPr>
          <a:xfrm>
            <a:off x="204976" y="224630"/>
            <a:ext cx="3916215" cy="4694239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4794437" y="4033157"/>
            <a:ext cx="3326041" cy="7341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04" name="Google Shape;104;p19"/>
          <p:cNvCxnSpPr/>
          <p:nvPr/>
        </p:nvCxnSpPr>
        <p:spPr>
          <a:xfrm>
            <a:off x="8689622" y="2707796"/>
            <a:ext cx="0" cy="2429046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05" name="Google Shape;105;p19"/>
          <p:cNvSpPr txBox="1"/>
          <p:nvPr>
            <p:ph idx="11" type="ftr"/>
          </p:nvPr>
        </p:nvSpPr>
        <p:spPr>
          <a:xfrm rot="-5400000">
            <a:off x="7359087" y="1193614"/>
            <a:ext cx="266107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18900000" scaled="0"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434043" y="259873"/>
            <a:ext cx="6088241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Open Sans"/>
              <a:buNone/>
              <a:defRPr b="1" sz="41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/>
          <p:nvPr>
            <p:ph idx="2" type="pic"/>
          </p:nvPr>
        </p:nvSpPr>
        <p:spPr>
          <a:xfrm>
            <a:off x="434579" y="1504950"/>
            <a:ext cx="1714500" cy="1956197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/>
          <p:nvPr>
            <p:ph idx="3" type="pic"/>
          </p:nvPr>
        </p:nvSpPr>
        <p:spPr>
          <a:xfrm>
            <a:off x="2621181" y="1504785"/>
            <a:ext cx="1714500" cy="1956197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0"/>
          <p:cNvSpPr/>
          <p:nvPr>
            <p:ph idx="4" type="pic"/>
          </p:nvPr>
        </p:nvSpPr>
        <p:spPr>
          <a:xfrm>
            <a:off x="4807784" y="1511792"/>
            <a:ext cx="1714500" cy="1956197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0"/>
          <p:cNvSpPr/>
          <p:nvPr>
            <p:ph idx="5" type="pic"/>
          </p:nvPr>
        </p:nvSpPr>
        <p:spPr>
          <a:xfrm>
            <a:off x="6995457" y="1504784"/>
            <a:ext cx="1714500" cy="1956197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434043" y="3763301"/>
            <a:ext cx="1714500" cy="262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i="0" sz="12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6" type="body"/>
          </p:nvPr>
        </p:nvSpPr>
        <p:spPr>
          <a:xfrm>
            <a:off x="434043" y="4014039"/>
            <a:ext cx="1714500" cy="262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7" type="body"/>
          </p:nvPr>
        </p:nvSpPr>
        <p:spPr>
          <a:xfrm>
            <a:off x="2621181" y="3763301"/>
            <a:ext cx="1714500" cy="262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i="0" sz="12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8" type="body"/>
          </p:nvPr>
        </p:nvSpPr>
        <p:spPr>
          <a:xfrm>
            <a:off x="2621181" y="4014039"/>
            <a:ext cx="1714500" cy="262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9" type="body"/>
          </p:nvPr>
        </p:nvSpPr>
        <p:spPr>
          <a:xfrm>
            <a:off x="4807784" y="3763301"/>
            <a:ext cx="1714500" cy="262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i="0" sz="12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13" type="body"/>
          </p:nvPr>
        </p:nvSpPr>
        <p:spPr>
          <a:xfrm>
            <a:off x="4807784" y="4014039"/>
            <a:ext cx="1714500" cy="262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4" type="body"/>
          </p:nvPr>
        </p:nvSpPr>
        <p:spPr>
          <a:xfrm>
            <a:off x="6994385" y="3763301"/>
            <a:ext cx="1714499" cy="262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i="0" sz="12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5" type="body"/>
          </p:nvPr>
        </p:nvSpPr>
        <p:spPr>
          <a:xfrm>
            <a:off x="6994385" y="4014039"/>
            <a:ext cx="1714499" cy="262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0" type="dt"/>
          </p:nvPr>
        </p:nvSpPr>
        <p:spPr>
          <a:xfrm>
            <a:off x="496491" y="460043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11" type="ftr"/>
          </p:nvPr>
        </p:nvSpPr>
        <p:spPr>
          <a:xfrm>
            <a:off x="6379317" y="634007"/>
            <a:ext cx="27254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0"/>
          <p:cNvSpPr txBox="1"/>
          <p:nvPr>
            <p:ph idx="12" type="sldNum"/>
          </p:nvPr>
        </p:nvSpPr>
        <p:spPr>
          <a:xfrm>
            <a:off x="6457950" y="462031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963296" y="1369219"/>
            <a:ext cx="7552051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0" name="Google Shape;130;p21"/>
          <p:cNvCxnSpPr/>
          <p:nvPr/>
        </p:nvCxnSpPr>
        <p:spPr>
          <a:xfrm>
            <a:off x="536917" y="267609"/>
            <a:ext cx="0" cy="4869656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column (comparison slide) " type="twoTxTwoObj">
  <p:cSld name="TWO_OBJECTS_WITH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4" name="Google Shape;134;p22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2385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23850" lvl="2" marL="13716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6" name="Google Shape;136;p22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2385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23850" lvl="2" marL="13716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0" name="Google Shape;140;p22"/>
          <p:cNvCxnSpPr/>
          <p:nvPr/>
        </p:nvCxnSpPr>
        <p:spPr>
          <a:xfrm>
            <a:off x="536917" y="267609"/>
            <a:ext cx="0" cy="4869656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41" name="Google Shape;141;p22"/>
          <p:cNvSpPr/>
          <p:nvPr/>
        </p:nvSpPr>
        <p:spPr>
          <a:xfrm>
            <a:off x="7881238" y="369155"/>
            <a:ext cx="104279" cy="104279"/>
          </a:xfrm>
          <a:custGeom>
            <a:rect b="b" l="l" r="r" t="t"/>
            <a:pathLst>
              <a:path extrusionOk="0" h="139039" w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8608458" y="791686"/>
            <a:ext cx="95785" cy="95785"/>
          </a:xfrm>
          <a:custGeom>
            <a:rect b="b" l="l" r="r" t="t"/>
            <a:pathLst>
              <a:path extrusionOk="0" h="127714" w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8431166" y="334978"/>
            <a:ext cx="68354" cy="68353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 column">
  <p:cSld name="Content 3 colum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629842" y="1260872"/>
            <a:ext cx="2461654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7" name="Google Shape;147;p23"/>
          <p:cNvSpPr txBox="1"/>
          <p:nvPr>
            <p:ph idx="2" type="body"/>
          </p:nvPr>
        </p:nvSpPr>
        <p:spPr>
          <a:xfrm>
            <a:off x="629842" y="1878806"/>
            <a:ext cx="2461654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2385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23850" lvl="2" marL="13716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3" type="body"/>
          </p:nvPr>
        </p:nvSpPr>
        <p:spPr>
          <a:xfrm>
            <a:off x="3335111" y="1260872"/>
            <a:ext cx="2473777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9" name="Google Shape;149;p23"/>
          <p:cNvSpPr txBox="1"/>
          <p:nvPr>
            <p:ph idx="4" type="body"/>
          </p:nvPr>
        </p:nvSpPr>
        <p:spPr>
          <a:xfrm>
            <a:off x="3335111" y="1878806"/>
            <a:ext cx="2473777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2385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23850" lvl="2" marL="13716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3" name="Google Shape;153;p23"/>
          <p:cNvCxnSpPr/>
          <p:nvPr/>
        </p:nvCxnSpPr>
        <p:spPr>
          <a:xfrm>
            <a:off x="536917" y="267609"/>
            <a:ext cx="0" cy="4869656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54" name="Google Shape;154;p23"/>
          <p:cNvSpPr txBox="1"/>
          <p:nvPr>
            <p:ph idx="5" type="body"/>
          </p:nvPr>
        </p:nvSpPr>
        <p:spPr>
          <a:xfrm>
            <a:off x="6040381" y="1260872"/>
            <a:ext cx="2473777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5" name="Google Shape;155;p23"/>
          <p:cNvSpPr txBox="1"/>
          <p:nvPr>
            <p:ph idx="6" type="body"/>
          </p:nvPr>
        </p:nvSpPr>
        <p:spPr>
          <a:xfrm>
            <a:off x="6040381" y="1878806"/>
            <a:ext cx="2473777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2385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23850" lvl="2" marL="13716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6" name="Google Shape;156;p23"/>
          <p:cNvSpPr/>
          <p:nvPr/>
        </p:nvSpPr>
        <p:spPr>
          <a:xfrm>
            <a:off x="7881238" y="369155"/>
            <a:ext cx="104279" cy="104279"/>
          </a:xfrm>
          <a:custGeom>
            <a:rect b="b" l="l" r="r" t="t"/>
            <a:pathLst>
              <a:path extrusionOk="0" h="139039" w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8608458" y="791686"/>
            <a:ext cx="95785" cy="95785"/>
          </a:xfrm>
          <a:custGeom>
            <a:rect b="b" l="l" r="r" t="t"/>
            <a:pathLst>
              <a:path extrusionOk="0" h="127714" w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8431166" y="334978"/>
            <a:ext cx="68354" cy="68353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4"/>
          <p:cNvCxnSpPr/>
          <p:nvPr/>
        </p:nvCxnSpPr>
        <p:spPr>
          <a:xfrm>
            <a:off x="0" y="604853"/>
            <a:ext cx="5927792" cy="0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61" name="Google Shape;161;p24"/>
          <p:cNvSpPr/>
          <p:nvPr/>
        </p:nvSpPr>
        <p:spPr>
          <a:xfrm>
            <a:off x="8226960" y="1335009"/>
            <a:ext cx="104279" cy="104279"/>
          </a:xfrm>
          <a:custGeom>
            <a:rect b="b" l="l" r="r" t="t"/>
            <a:pathLst>
              <a:path extrusionOk="0" h="139039" w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8461192" y="1552992"/>
            <a:ext cx="68354" cy="68353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24"/>
          <p:cNvSpPr txBox="1"/>
          <p:nvPr>
            <p:ph type="title"/>
          </p:nvPr>
        </p:nvSpPr>
        <p:spPr>
          <a:xfrm>
            <a:off x="628650" y="741773"/>
            <a:ext cx="3738471" cy="111850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628650" y="2110898"/>
            <a:ext cx="3738471" cy="25194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5" name="Google Shape;165;p24"/>
          <p:cNvSpPr/>
          <p:nvPr>
            <p:ph idx="2" type="pic"/>
          </p:nvPr>
        </p:nvSpPr>
        <p:spPr>
          <a:xfrm>
            <a:off x="5598500" y="1258665"/>
            <a:ext cx="3200734" cy="3200734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4"/>
          <p:cNvSpPr txBox="1"/>
          <p:nvPr>
            <p:ph idx="11" type="ftr"/>
          </p:nvPr>
        </p:nvSpPr>
        <p:spPr>
          <a:xfrm>
            <a:off x="5971642" y="4679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spcBef>
                <a:spcPts val="0"/>
              </a:spcBef>
              <a:buNone/>
              <a:defRPr b="1" i="0" sz="900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2700000" scaled="0"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1203681" y="670583"/>
            <a:ext cx="3886301" cy="19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Open Sans"/>
              <a:buNone/>
              <a:defRPr b="1" sz="4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5"/>
          <p:cNvSpPr/>
          <p:nvPr/>
        </p:nvSpPr>
        <p:spPr>
          <a:xfrm>
            <a:off x="501927" y="1204808"/>
            <a:ext cx="104278" cy="104278"/>
          </a:xfrm>
          <a:custGeom>
            <a:rect b="b" l="l" r="r" t="t"/>
            <a:pathLst>
              <a:path extrusionOk="0" h="139038" w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771011" y="1376779"/>
            <a:ext cx="68353" cy="68353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490272" y="1545097"/>
            <a:ext cx="95785" cy="95785"/>
          </a:xfrm>
          <a:custGeom>
            <a:rect b="b" l="l" r="r" t="t"/>
            <a:pathLst>
              <a:path extrusionOk="0" h="127713" w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25"/>
          <p:cNvSpPr txBox="1"/>
          <p:nvPr>
            <p:ph idx="1" type="body"/>
          </p:nvPr>
        </p:nvSpPr>
        <p:spPr>
          <a:xfrm>
            <a:off x="1203679" y="2796319"/>
            <a:ext cx="3886301" cy="19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5" name="Google Shape;175;p25"/>
          <p:cNvSpPr/>
          <p:nvPr>
            <p:ph idx="2" type="pic"/>
          </p:nvPr>
        </p:nvSpPr>
        <p:spPr>
          <a:xfrm>
            <a:off x="5347502" y="1392170"/>
            <a:ext cx="1530506" cy="1530506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5"/>
          <p:cNvSpPr/>
          <p:nvPr>
            <p:ph idx="3" type="pic"/>
          </p:nvPr>
        </p:nvSpPr>
        <p:spPr>
          <a:xfrm>
            <a:off x="6993870" y="0"/>
            <a:ext cx="2150130" cy="2193783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5"/>
          <p:cNvSpPr/>
          <p:nvPr>
            <p:ph idx="4" type="pic"/>
          </p:nvPr>
        </p:nvSpPr>
        <p:spPr>
          <a:xfrm>
            <a:off x="6348920" y="2450987"/>
            <a:ext cx="2795080" cy="2692513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spcBef>
                <a:spcPts val="0"/>
              </a:spcBef>
              <a:buNone/>
              <a:defRPr b="1" i="0"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5"/>
          <p:cNvCxnSpPr/>
          <p:nvPr/>
        </p:nvCxnSpPr>
        <p:spPr>
          <a:xfrm>
            <a:off x="975947" y="2622242"/>
            <a:ext cx="0" cy="2514600"/>
          </a:xfrm>
          <a:prstGeom prst="straightConnector1">
            <a:avLst/>
          </a:prstGeom>
          <a:noFill/>
          <a:ln cap="sq" cmpd="sng" w="25400">
            <a:solidFill>
              <a:schemeClr val="lt1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80" name="Google Shape;180;p25"/>
          <p:cNvSpPr txBox="1"/>
          <p:nvPr>
            <p:ph idx="10" type="dt"/>
          </p:nvPr>
        </p:nvSpPr>
        <p:spPr>
          <a:xfrm>
            <a:off x="975947" y="163665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11" type="ftr"/>
          </p:nvPr>
        </p:nvSpPr>
        <p:spPr>
          <a:xfrm rot="-5400000">
            <a:off x="-572001" y="3749278"/>
            <a:ext cx="251460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  <a:defRPr b="0" i="0" sz="4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80">
          <p15:clr>
            <a:srgbClr val="547EBF"/>
          </p15:clr>
        </p15:guide>
        <p15:guide id="4" orient="horz" pos="180">
          <p15:clr>
            <a:srgbClr val="547EBF"/>
          </p15:clr>
        </p15:guide>
        <p15:guide id="5" pos="5580">
          <p15:clr>
            <a:srgbClr val="547EBF"/>
          </p15:clr>
        </p15:guide>
        <p15:guide id="6" orient="horz" pos="3060">
          <p15:clr>
            <a:srgbClr val="547EBF"/>
          </p15:clr>
        </p15:guide>
        <p15:guide id="7" pos="2970">
          <p15:clr>
            <a:srgbClr val="547EBF"/>
          </p15:clr>
        </p15:guide>
        <p15:guide id="8" pos="2790">
          <p15:clr>
            <a:srgbClr val="547EBF"/>
          </p15:clr>
        </p15:guide>
        <p15:guide id="9" pos="1584">
          <p15:clr>
            <a:srgbClr val="547EBF"/>
          </p15:clr>
        </p15:guide>
        <p15:guide id="10" pos="1386">
          <p15:clr>
            <a:srgbClr val="547EBF"/>
          </p15:clr>
        </p15:guide>
        <p15:guide id="11" pos="4176">
          <p15:clr>
            <a:srgbClr val="547EBF"/>
          </p15:clr>
        </p15:guide>
        <p15:guide id="12" pos="4374">
          <p15:clr>
            <a:srgbClr val="547EBF"/>
          </p15:clr>
        </p15:guide>
        <p15:guide id="13" pos="3726">
          <p15:clr>
            <a:srgbClr val="9FCC3B"/>
          </p15:clr>
        </p15:guide>
        <p15:guide id="14" pos="3906">
          <p15:clr>
            <a:srgbClr val="9FCC3B"/>
          </p15:clr>
        </p15:guide>
        <p15:guide id="15" pos="2034">
          <p15:clr>
            <a:srgbClr val="9FCC3B"/>
          </p15:clr>
        </p15:guide>
        <p15:guide id="16" pos="1854">
          <p15:clr>
            <a:srgbClr val="9FCC3B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6" title="WhatsApp Image 2025-11-06 at 21.46.51.jpeg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7380" y="0"/>
            <a:ext cx="3636620" cy="51435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7" title="25d61733-5b00-458c-91b1-ce508ffba05e-removebg-preview.png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8962" y="541789"/>
            <a:ext cx="6324025" cy="3355600"/>
          </a:xfrm>
          <a:prstGeom prst="rect">
            <a:avLst/>
          </a:prstGeom>
          <a:noFill/>
        </p:spPr>
      </p:pic>
      <p:sp>
        <p:nvSpPr>
          <p:cNvPr id="192" name="Google Shape;192;p27"/>
          <p:cNvSpPr txBox="1"/>
          <p:nvPr>
            <p:ph type="title"/>
          </p:nvPr>
        </p:nvSpPr>
        <p:spPr>
          <a:xfrm>
            <a:off x="594869" y="1011402"/>
            <a:ext cx="3057344" cy="27411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"/>
              <a:buNone/>
            </a:pPr>
            <a:r>
              <a:rPr lang="en" sz="3000"/>
              <a:t>Democratizing NLP </a:t>
            </a:r>
            <a:endParaRPr sz="3000"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594869" y="3877840"/>
            <a:ext cx="3057344" cy="7426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"/>
              <a:t>Rogendo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4794437" y="189557"/>
            <a:ext cx="3326041" cy="14738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</a:pPr>
            <a:r>
              <a:rPr lang="en"/>
              <a:t>Agenda</a:t>
            </a:r>
            <a:endParaRPr/>
          </a:p>
        </p:txBody>
      </p:sp>
      <p:pic>
        <p:nvPicPr>
          <p:cNvPr id="199" name="Google Shape;199;p28" title="Importance-of-nlp-in-recruitment-removebg-preview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702" r="6702" t="0"/>
          <a:stretch/>
        </p:blipFill>
        <p:spPr>
          <a:xfrm>
            <a:off x="1014413" y="404813"/>
            <a:ext cx="3211116" cy="18514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oat in the water" id="200" name="Google Shape;200;p28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538" y="2876550"/>
            <a:ext cx="3211116" cy="185142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8"/>
          <p:cNvSpPr txBox="1"/>
          <p:nvPr>
            <p:ph idx="4294967295" type="body"/>
          </p:nvPr>
        </p:nvSpPr>
        <p:spPr>
          <a:xfrm>
            <a:off x="4521424" y="1984450"/>
            <a:ext cx="3599100" cy="27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NLP framework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Open Source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Sustainable Development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NLP Community</a:t>
            </a:r>
            <a:endParaRPr/>
          </a:p>
        </p:txBody>
      </p:sp>
      <p:sp>
        <p:nvSpPr>
          <p:cNvPr id="202" name="Google Shape;202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650505" y="1834814"/>
            <a:ext cx="3326041" cy="1473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pen Sans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4794437" y="402425"/>
            <a:ext cx="3388878" cy="433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While Silicon Valley builds billion-parameter models, Kenyan businesses </a:t>
            </a:r>
            <a:r>
              <a:rPr b="1" lang="en"/>
              <a:t>struggle with basic NLP</a:t>
            </a:r>
            <a:r>
              <a:rPr lang="en"/>
              <a:t>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accustomed by </a:t>
            </a:r>
            <a:r>
              <a:rPr b="1" lang="en"/>
              <a:t>Limited</a:t>
            </a:r>
            <a:r>
              <a:rPr lang="en"/>
              <a:t> Data, </a:t>
            </a:r>
            <a:r>
              <a:rPr b="1" lang="en"/>
              <a:t>Unaffordable</a:t>
            </a:r>
            <a:r>
              <a:rPr lang="en"/>
              <a:t> Computational resource and skills costs.</a:t>
            </a:r>
            <a:endParaRPr/>
          </a:p>
        </p:txBody>
      </p:sp>
      <p:sp>
        <p:nvSpPr>
          <p:cNvPr id="209" name="Google Shape;209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18900000" scaled="0"/>
        </a:gra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67725"/>
            <a:ext cx="9141279" cy="6078951"/>
          </a:xfrm>
          <a:prstGeom prst="rect">
            <a:avLst/>
          </a:prstGeom>
          <a:noFill/>
        </p:spPr>
      </p:pic>
      <p:sp>
        <p:nvSpPr>
          <p:cNvPr id="215" name="Google Shape;215;p30"/>
          <p:cNvSpPr txBox="1"/>
          <p:nvPr>
            <p:ph type="title"/>
          </p:nvPr>
        </p:nvSpPr>
        <p:spPr>
          <a:xfrm>
            <a:off x="285743" y="2706460"/>
            <a:ext cx="7259700" cy="21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</a:pPr>
            <a:r>
              <a:rPr lang="en"/>
              <a:t>Kenya's national AI priorities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</a:pPr>
            <a:r>
              <a:rPr lang="en"/>
              <a:t>Sustainable Development</a:t>
            </a:r>
            <a:endParaRPr/>
          </a:p>
        </p:txBody>
      </p:sp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222" name="Google Shape;222;p31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Sustainable Development &amp; Economic Innovation → Democratizing NLP = economic empowerment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Governance &amp; Public Policy → Multi-task models for government document processing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Homegrown Generative AI → African-context aware language models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Cyber Security → Multi-task threat detection and classification</a:t>
            </a:r>
            <a:endParaRPr/>
          </a:p>
        </p:txBody>
      </p:sp>
      <p:sp>
        <p:nvSpPr>
          <p:cNvPr id="223" name="Google Shape;223;p31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Priorities</a:t>
            </a:r>
            <a:endParaRPr/>
          </a:p>
        </p:txBody>
      </p:sp>
      <p:sp>
        <p:nvSpPr>
          <p:cNvPr id="224" name="Google Shape;224;p31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"National Prosperity" →  Reduces AI costs 60-80%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"Leveraging Innovations" → Pre-trained models &amp; Cutting-edge attention fusion techniques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"Security" → Multi-threat detection capabilities</a:t>
            </a:r>
            <a:endParaRPr/>
          </a:p>
        </p:txBody>
      </p:sp>
      <p:sp>
        <p:nvSpPr>
          <p:cNvPr id="225" name="Google Shape;225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</a:pPr>
            <a:r>
              <a:rPr lang="en" sz="2800"/>
              <a:t>NLP tasks</a:t>
            </a:r>
            <a:endParaRPr sz="2800"/>
          </a:p>
        </p:txBody>
      </p:sp>
      <p:graphicFrame>
        <p:nvGraphicFramePr>
          <p:cNvPr id="231" name="Google Shape;231;p32"/>
          <p:cNvGraphicFramePr/>
          <p:nvPr/>
        </p:nvGraphicFramePr>
        <p:xfrm>
          <a:off x="782925" y="113356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{062F7F3D-370B-416B-96FC-800D8A7C3A18}</a:tableStyleId>
              </a:tblPr>
              <a:tblGrid>
                <a:gridCol w="966550"/>
                <a:gridCol w="966550"/>
                <a:gridCol w="966550"/>
                <a:gridCol w="966550"/>
                <a:gridCol w="966550"/>
                <a:gridCol w="966550"/>
                <a:gridCol w="966550"/>
                <a:gridCol w="966550"/>
              </a:tblGrid>
              <a:tr h="46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Base Models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Classification</a:t>
                      </a:r>
                      <a:endParaRPr sz="5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Quality Assurance</a:t>
                      </a:r>
                      <a:endParaRPr sz="5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Question Aswering</a:t>
                      </a:r>
                      <a:endParaRPr sz="5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Summarization</a:t>
                      </a:r>
                      <a:endParaRPr sz="5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Translation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NER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Sentiment Analysis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5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DistilBERT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Extractive Only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❌ Limited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400"/>
                    </a:p>
                  </a:txBody>
                  <a:tcPr marT="91425" marB="91425" marR="91425" marL="91425"/>
                </a:tc>
              </a:tr>
              <a:tr h="5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BERT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Extractive Only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❌ Limited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400"/>
                    </a:p>
                  </a:txBody>
                  <a:tcPr marT="91425" marB="91425" marR="91425" marL="91425"/>
                </a:tc>
              </a:tr>
              <a:tr h="5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RoBERTa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Extractive Only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❌ Limited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400"/>
                    </a:p>
                  </a:txBody>
                  <a:tcPr marT="91425" marB="91425" marR="91425" marL="91425"/>
                </a:tc>
              </a:tr>
              <a:tr h="42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MT-Transformer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/>
                        <a:t>❌ Limited</a:t>
                      </a:r>
                      <a:endParaRPr sz="4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Abstractive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400"/>
                    </a:p>
                  </a:txBody>
                  <a:tcPr marT="91425" marB="91425" marR="91425" marL="91425"/>
                </a:tc>
              </a:tr>
              <a:tr h="42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XLM-RoBERTa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Abstractive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400"/>
                    </a:p>
                  </a:txBody>
                  <a:tcPr marT="91425" marB="91425" marR="91425" marL="91425"/>
                </a:tc>
              </a:tr>
              <a:tr h="42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African BERT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Extractive Only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African Langs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400"/>
                    </a:p>
                  </a:txBody>
                  <a:tcPr marT="91425" marB="91425" marR="91425" marL="91425"/>
                </a:tc>
              </a:tr>
              <a:tr h="42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BART</a:t>
                      </a:r>
                      <a:endParaRPr b="1"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Excellent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❌ Limited</a:t>
                      </a:r>
                      <a:endParaRPr sz="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✅ Good</a:t>
                      </a:r>
                      <a:endParaRPr sz="4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2" name="Google Shape;232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type="title"/>
          </p:nvPr>
        </p:nvSpPr>
        <p:spPr>
          <a:xfrm>
            <a:off x="4794437" y="189557"/>
            <a:ext cx="3326041" cy="361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90"/>
              <a:buFont typeface="Open Sans"/>
              <a:buNone/>
            </a:pPr>
            <a:r>
              <a:rPr lang="en" sz="9290"/>
              <a:t>A</a:t>
            </a:r>
            <a:r>
              <a:rPr lang="en" sz="2690"/>
              <a:t>n </a:t>
            </a:r>
            <a:r>
              <a:rPr b="1" i="1" lang="en" sz="2690"/>
              <a:t>open-source </a:t>
            </a:r>
            <a:r>
              <a:rPr lang="en" sz="2090">
                <a:latin typeface="Courier New"/>
                <a:ea typeface="Courier New"/>
                <a:cs typeface="Courier New"/>
                <a:sym typeface="Courier New"/>
              </a:rPr>
              <a:t>Python framework that </a:t>
            </a:r>
            <a:r>
              <a:rPr b="1" i="1" lang="en" sz="2090">
                <a:latin typeface="Courier New"/>
                <a:ea typeface="Courier New"/>
                <a:cs typeface="Courier New"/>
                <a:sym typeface="Courier New"/>
              </a:rPr>
              <a:t>democratizes NLP</a:t>
            </a:r>
            <a:r>
              <a:rPr lang="en" sz="2090">
                <a:latin typeface="Courier New"/>
                <a:ea typeface="Courier New"/>
                <a:cs typeface="Courier New"/>
                <a:sym typeface="Courier New"/>
              </a:rPr>
              <a:t> development in Africa by reducing fine-tuning complexity and costs</a:t>
            </a:r>
            <a:endParaRPr sz="209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Overhead image of a large cargo ship carrying many shipping containers. " id="238" name="Google Shape;238;p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76" y="224630"/>
            <a:ext cx="3916215" cy="469423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 txBox="1"/>
          <p:nvPr>
            <p:ph idx="1" type="body"/>
          </p:nvPr>
        </p:nvSpPr>
        <p:spPr>
          <a:xfrm>
            <a:off x="5021600" y="4384577"/>
            <a:ext cx="33261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Target Users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 Developers, startups, researchers, government agencies</a:t>
            </a:r>
            <a:endParaRPr sz="1500"/>
          </a:p>
        </p:txBody>
      </p:sp>
      <p:sp>
        <p:nvSpPr>
          <p:cNvPr id="240" name="Google Shape;240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idx="2" type="body"/>
          </p:nvPr>
        </p:nvSpPr>
        <p:spPr>
          <a:xfrm>
            <a:off x="629850" y="761100"/>
            <a:ext cx="4569600" cy="3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/>
              <a:t>It e</a:t>
            </a:r>
            <a:r>
              <a:rPr lang="en"/>
              <a:t>nables developers to:</a:t>
            </a:r>
            <a:endParaRPr/>
          </a:p>
          <a:p>
            <a:pPr indent="-171450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/>
              <a:t>Fine-tune BERT, DistilBERT, RoBERTa for ANY NLP task</a:t>
            </a:r>
            <a:endParaRPr/>
          </a:p>
          <a:p>
            <a:pPr indent="-171450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/>
              <a:t>Handle multilingual/multilabel/multiclass classification</a:t>
            </a:r>
            <a:endParaRPr/>
          </a:p>
          <a:p>
            <a:pPr indent="-171450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/>
              <a:t> Support translation, QA, QA/QC, NER, sentiment, summarization</a:t>
            </a:r>
            <a:endParaRPr/>
          </a:p>
          <a:p>
            <a:pPr indent="-171450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/>
              <a:t>Create custom data structures easily</a:t>
            </a:r>
            <a:endParaRPr/>
          </a:p>
          <a:p>
            <a:pPr indent="-171450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/>
              <a:t>Combine single tasks into multi-task models</a:t>
            </a:r>
            <a:endParaRPr/>
          </a:p>
        </p:txBody>
      </p:sp>
      <p:sp>
        <p:nvSpPr>
          <p:cNvPr id="246" name="Google Shape;246;p34"/>
          <p:cNvSpPr txBox="1"/>
          <p:nvPr>
            <p:ph idx="3" type="body"/>
          </p:nvPr>
        </p:nvSpPr>
        <p:spPr>
          <a:xfrm>
            <a:off x="2098211" y="339522"/>
            <a:ext cx="2473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Our Product</a:t>
            </a:r>
            <a:endParaRPr/>
          </a:p>
        </p:txBody>
      </p:sp>
      <p:sp>
        <p:nvSpPr>
          <p:cNvPr id="247" name="Google Shape;247;p34"/>
          <p:cNvSpPr txBox="1"/>
          <p:nvPr>
            <p:ph idx="4" type="body"/>
          </p:nvPr>
        </p:nvSpPr>
        <p:spPr>
          <a:xfrm>
            <a:off x="5087424" y="1682450"/>
            <a:ext cx="3837600" cy="3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10000"/>
          </a:bodyPr>
          <a:lstStyle/>
          <a:p>
            <a:pPr indent="-157162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African devs spend weeks setting up NLP experiments</a:t>
            </a:r>
            <a:endParaRPr/>
          </a:p>
          <a:p>
            <a:pPr indent="-157162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No unified framework for multiple NLP tasks</a:t>
            </a:r>
            <a:endParaRPr/>
          </a:p>
          <a:p>
            <a:pPr indent="-157162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Expensive computational resources</a:t>
            </a:r>
            <a:endParaRPr/>
          </a:p>
          <a:p>
            <a:pPr indent="-157162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Western models don't understand local context</a:t>
            </a:r>
            <a:endParaRPr/>
          </a:p>
          <a:p>
            <a:pPr indent="0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What we offer:</a:t>
            </a:r>
            <a:endParaRPr b="1"/>
          </a:p>
          <a:p>
            <a:pPr indent="-157162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One framework for ALL NLP fine-tuning tasks</a:t>
            </a:r>
            <a:endParaRPr/>
          </a:p>
          <a:p>
            <a:pPr indent="-157162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50% faster experimentation cycle</a:t>
            </a:r>
            <a:endParaRPr/>
          </a:p>
          <a:p>
            <a:pPr indent="-157162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Built-in African language support</a:t>
            </a:r>
            <a:endParaRPr/>
          </a:p>
          <a:p>
            <a:pPr indent="-157162" lvl="0" marL="177800" rtl="0" algn="l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Open-source = $0 cost for startups</a:t>
            </a:r>
            <a:endParaRPr/>
          </a:p>
        </p:txBody>
      </p:sp>
      <p:sp>
        <p:nvSpPr>
          <p:cNvPr id="248" name="Google Shape;248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</a:pPr>
            <a:r>
              <a:rPr lang="en"/>
              <a:t>Winning Strategy</a:t>
            </a:r>
            <a:endParaRPr/>
          </a:p>
        </p:txBody>
      </p:sp>
      <p:sp>
        <p:nvSpPr>
          <p:cNvPr id="254" name="Google Shape;254;p35"/>
          <p:cNvSpPr txBox="1"/>
          <p:nvPr>
            <p:ph idx="1" type="body"/>
          </p:nvPr>
        </p:nvSpPr>
        <p:spPr>
          <a:xfrm>
            <a:off x="629842" y="1260872"/>
            <a:ext cx="2461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Prior</a:t>
            </a:r>
            <a:endParaRPr/>
          </a:p>
        </p:txBody>
      </p:sp>
      <p:sp>
        <p:nvSpPr>
          <p:cNvPr id="255" name="Google Shape;255;p35"/>
          <p:cNvSpPr txBox="1"/>
          <p:nvPr>
            <p:ph idx="2" type="body"/>
          </p:nvPr>
        </p:nvSpPr>
        <p:spPr>
          <a:xfrm>
            <a:off x="629842" y="1878806"/>
            <a:ext cx="2461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157162" lvl="0" marL="1778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Position as "Swahili &amp; African Language Multi-Task AI Platform"</a:t>
            </a:r>
            <a:endParaRPr/>
          </a:p>
          <a:p>
            <a:pPr indent="-157162" lvl="0" marL="1778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Emphasize cost reduction for Kenyan businesses/government</a:t>
            </a:r>
            <a:endParaRPr/>
          </a:p>
          <a:p>
            <a:pPr indent="-157162" lvl="0" marL="1778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Highlight local context understanding</a:t>
            </a:r>
            <a:endParaRPr/>
          </a:p>
          <a:p>
            <a:pPr indent="-157162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6363"/>
              <a:buChar char="•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Show Individual Models -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Train Swahili sentiment + NER models.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57162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6363"/>
              <a:buChar char="•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Demonstrate Fusion -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Combine into a unified African-language model.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57162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6363"/>
              <a:buChar char="•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Live African Context -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Process local news + government documents.</a:t>
            </a:r>
            <a:endParaRPr/>
          </a:p>
        </p:txBody>
      </p:sp>
      <p:sp>
        <p:nvSpPr>
          <p:cNvPr id="256" name="Google Shape;256;p35"/>
          <p:cNvSpPr txBox="1"/>
          <p:nvPr>
            <p:ph idx="3" type="body"/>
          </p:nvPr>
        </p:nvSpPr>
        <p:spPr>
          <a:xfrm>
            <a:off x="3335111" y="1260872"/>
            <a:ext cx="2473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Open source</a:t>
            </a:r>
            <a:endParaRPr/>
          </a:p>
        </p:txBody>
      </p:sp>
      <p:sp>
        <p:nvSpPr>
          <p:cNvPr id="257" name="Google Shape;257;p35"/>
          <p:cNvSpPr txBox="1"/>
          <p:nvPr>
            <p:ph idx="4" type="body"/>
          </p:nvPr>
        </p:nvSpPr>
        <p:spPr>
          <a:xfrm>
            <a:off x="3335111" y="1878806"/>
            <a:ext cx="2473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/>
              <a:t>Open source the core codebase. Find alternative Business model.</a:t>
            </a:r>
            <a:endParaRPr/>
          </a:p>
          <a:p>
            <a:pPr indent="-171450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/>
              <a:t>Cool, easy to follow documentation and tutorials.</a:t>
            </a:r>
            <a:endParaRPr/>
          </a:p>
        </p:txBody>
      </p:sp>
      <p:sp>
        <p:nvSpPr>
          <p:cNvPr id="258" name="Google Shape;258;p35"/>
          <p:cNvSpPr txBox="1"/>
          <p:nvPr>
            <p:ph idx="5" type="body"/>
          </p:nvPr>
        </p:nvSpPr>
        <p:spPr>
          <a:xfrm>
            <a:off x="6040381" y="1260872"/>
            <a:ext cx="2473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Community</a:t>
            </a:r>
            <a:endParaRPr/>
          </a:p>
        </p:txBody>
      </p:sp>
      <p:sp>
        <p:nvSpPr>
          <p:cNvPr id="259" name="Google Shape;259;p35"/>
          <p:cNvSpPr txBox="1"/>
          <p:nvPr>
            <p:ph idx="6" type="body"/>
          </p:nvPr>
        </p:nvSpPr>
        <p:spPr>
          <a:xfrm>
            <a:off x="6040381" y="1878806"/>
            <a:ext cx="2473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/>
              <a:t>Using the power of Slack, Discord, Huggingface and bots, create a community. </a:t>
            </a:r>
            <a:endParaRPr/>
          </a:p>
          <a:p>
            <a:pPr indent="-171450" lvl="0" marL="17780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/>
              <a:t>Weekly blogs, and sharing of models, concepts, training scripts </a:t>
            </a:r>
            <a:endParaRPr/>
          </a:p>
        </p:txBody>
      </p:sp>
      <p:sp>
        <p:nvSpPr>
          <p:cNvPr id="260" name="Google Shape;260;p35"/>
          <p:cNvSpPr txBox="1"/>
          <p:nvPr>
            <p:ph idx="11" type="ftr"/>
          </p:nvPr>
        </p:nvSpPr>
        <p:spPr>
          <a:xfrm>
            <a:off x="2857500" y="4203225"/>
            <a:ext cx="39675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666666"/>
                </a:solidFill>
              </a:rPr>
              <a:t>3 immediately impactful products using Our Library: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666666"/>
                </a:solidFill>
              </a:rPr>
              <a:t>1. Swahili Sentiment Analysis + Named Entity Recognition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666666"/>
                </a:solidFill>
              </a:rPr>
              <a:t>2. Government Document Classification + Key Info Extraction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666666"/>
                </a:solidFill>
              </a:rPr>
              <a:t>3. Multi-threat Cybersecurity Detection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4. Attention Fusion</a:t>
            </a:r>
            <a:endParaRPr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61" name="Google Shape;261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6"/>
          <p:cNvGrpSpPr/>
          <p:nvPr/>
        </p:nvGrpSpPr>
        <p:grpSpPr>
          <a:xfrm>
            <a:off x="1144603" y="753105"/>
            <a:ext cx="1185708" cy="961500"/>
            <a:chOff x="2507667" y="833222"/>
            <a:chExt cx="1185708" cy="961500"/>
          </a:xfrm>
        </p:grpSpPr>
        <p:sp>
          <p:nvSpPr>
            <p:cNvPr id="267" name="Google Shape;267;p36"/>
            <p:cNvSpPr/>
            <p:nvPr/>
          </p:nvSpPr>
          <p:spPr>
            <a:xfrm>
              <a:off x="2507667" y="833222"/>
              <a:ext cx="1161600" cy="961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36"/>
            <p:cNvSpPr txBox="1"/>
            <p:nvPr/>
          </p:nvSpPr>
          <p:spPr>
            <a:xfrm>
              <a:off x="2531775" y="1169700"/>
              <a:ext cx="1161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25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Input</a:t>
              </a:r>
              <a:endParaRPr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9" name="Google Shape;269;p36"/>
          <p:cNvGrpSpPr/>
          <p:nvPr/>
        </p:nvGrpSpPr>
        <p:grpSpPr>
          <a:xfrm>
            <a:off x="3361986" y="753117"/>
            <a:ext cx="1329900" cy="961500"/>
            <a:chOff x="2363450" y="833222"/>
            <a:chExt cx="1329900" cy="961500"/>
          </a:xfrm>
        </p:grpSpPr>
        <p:sp>
          <p:nvSpPr>
            <p:cNvPr id="270" name="Google Shape;270;p36"/>
            <p:cNvSpPr/>
            <p:nvPr/>
          </p:nvSpPr>
          <p:spPr>
            <a:xfrm>
              <a:off x="2363457" y="833222"/>
              <a:ext cx="1161600" cy="961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1" name="Google Shape;271;p36"/>
            <p:cNvSpPr txBox="1"/>
            <p:nvPr/>
          </p:nvSpPr>
          <p:spPr>
            <a:xfrm>
              <a:off x="2363450" y="1089571"/>
              <a:ext cx="1329900" cy="5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25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Custom Data Classes 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72" name="Google Shape;272;p36"/>
          <p:cNvGrpSpPr/>
          <p:nvPr/>
        </p:nvGrpSpPr>
        <p:grpSpPr>
          <a:xfrm>
            <a:off x="1120588" y="2700108"/>
            <a:ext cx="1257813" cy="961500"/>
            <a:chOff x="2363457" y="833222"/>
            <a:chExt cx="1257813" cy="961500"/>
          </a:xfrm>
        </p:grpSpPr>
        <p:sp>
          <p:nvSpPr>
            <p:cNvPr id="273" name="Google Shape;273;p36"/>
            <p:cNvSpPr/>
            <p:nvPr/>
          </p:nvSpPr>
          <p:spPr>
            <a:xfrm>
              <a:off x="2363457" y="833222"/>
              <a:ext cx="1161600" cy="961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4" name="Google Shape;274;p36"/>
            <p:cNvSpPr txBox="1"/>
            <p:nvPr/>
          </p:nvSpPr>
          <p:spPr>
            <a:xfrm>
              <a:off x="2459670" y="1065548"/>
              <a:ext cx="1161600" cy="5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25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Model Selection</a:t>
              </a:r>
              <a:endParaRPr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75" name="Google Shape;275;p36"/>
          <p:cNvGrpSpPr/>
          <p:nvPr/>
        </p:nvGrpSpPr>
        <p:grpSpPr>
          <a:xfrm>
            <a:off x="3403138" y="2700108"/>
            <a:ext cx="1247643" cy="961500"/>
            <a:chOff x="841232" y="888947"/>
            <a:chExt cx="1247643" cy="961500"/>
          </a:xfrm>
        </p:grpSpPr>
        <p:sp>
          <p:nvSpPr>
            <p:cNvPr id="276" name="Google Shape;276;p36"/>
            <p:cNvSpPr/>
            <p:nvPr/>
          </p:nvSpPr>
          <p:spPr>
            <a:xfrm>
              <a:off x="841232" y="888947"/>
              <a:ext cx="1161600" cy="961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7" name="Google Shape;277;p36"/>
            <p:cNvSpPr txBox="1"/>
            <p:nvPr/>
          </p:nvSpPr>
          <p:spPr>
            <a:xfrm>
              <a:off x="927275" y="1113750"/>
              <a:ext cx="1161600" cy="5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25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Task Configuration </a:t>
              </a:r>
              <a:endParaRPr sz="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78" name="Google Shape;278;p36"/>
          <p:cNvGrpSpPr/>
          <p:nvPr/>
        </p:nvGrpSpPr>
        <p:grpSpPr>
          <a:xfrm>
            <a:off x="5376213" y="2660033"/>
            <a:ext cx="1329918" cy="961500"/>
            <a:chOff x="2363457" y="833222"/>
            <a:chExt cx="1329918" cy="961500"/>
          </a:xfrm>
        </p:grpSpPr>
        <p:sp>
          <p:nvSpPr>
            <p:cNvPr id="279" name="Google Shape;279;p36"/>
            <p:cNvSpPr/>
            <p:nvPr/>
          </p:nvSpPr>
          <p:spPr>
            <a:xfrm>
              <a:off x="2363457" y="833222"/>
              <a:ext cx="1161600" cy="961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0" name="Google Shape;280;p36"/>
            <p:cNvSpPr txBox="1"/>
            <p:nvPr/>
          </p:nvSpPr>
          <p:spPr>
            <a:xfrm>
              <a:off x="2531775" y="1169700"/>
              <a:ext cx="11616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25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Training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81" name="Google Shape;281;p36"/>
          <p:cNvSpPr/>
          <p:nvPr/>
        </p:nvSpPr>
        <p:spPr>
          <a:xfrm>
            <a:off x="7367470" y="2612608"/>
            <a:ext cx="1161600" cy="96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Deployment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36"/>
          <p:cNvSpPr/>
          <p:nvPr/>
        </p:nvSpPr>
        <p:spPr>
          <a:xfrm>
            <a:off x="2291332" y="3100525"/>
            <a:ext cx="11118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36"/>
          <p:cNvSpPr/>
          <p:nvPr/>
        </p:nvSpPr>
        <p:spPr>
          <a:xfrm>
            <a:off x="4574857" y="3068625"/>
            <a:ext cx="8013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" name="Google Shape;284;p36"/>
          <p:cNvSpPr/>
          <p:nvPr/>
        </p:nvSpPr>
        <p:spPr>
          <a:xfrm>
            <a:off x="6547882" y="3068625"/>
            <a:ext cx="8013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5" name="Google Shape;285;p36"/>
          <p:cNvSpPr/>
          <p:nvPr/>
        </p:nvSpPr>
        <p:spPr>
          <a:xfrm>
            <a:off x="689000" y="1137650"/>
            <a:ext cx="440700" cy="1995000"/>
          </a:xfrm>
          <a:prstGeom prst="curvedRightArrow">
            <a:avLst>
              <a:gd fmla="val 9560" name="adj1"/>
              <a:gd fmla="val 19717" name="adj2"/>
              <a:gd fmla="val 21178" name="adj3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86" name="Google Shape;286;p36"/>
          <p:cNvCxnSpPr/>
          <p:nvPr/>
        </p:nvCxnSpPr>
        <p:spPr>
          <a:xfrm flipH="1">
            <a:off x="2163225" y="1650400"/>
            <a:ext cx="1217700" cy="106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</a:pPr>
            <a:r>
              <a:rPr lang="en"/>
              <a:t>Timeline</a:t>
            </a:r>
            <a:endParaRPr/>
          </a:p>
        </p:txBody>
      </p:sp>
      <p:grpSp>
        <p:nvGrpSpPr>
          <p:cNvPr id="292" name="Google Shape;292;p37"/>
          <p:cNvGrpSpPr/>
          <p:nvPr/>
        </p:nvGrpSpPr>
        <p:grpSpPr>
          <a:xfrm>
            <a:off x="964691" y="2021919"/>
            <a:ext cx="7549184" cy="1958102"/>
            <a:chOff x="1966" y="870267"/>
            <a:chExt cx="10065578" cy="2610803"/>
          </a:xfrm>
        </p:grpSpPr>
        <p:sp>
          <p:nvSpPr>
            <p:cNvPr id="293" name="Google Shape;293;p37"/>
            <p:cNvSpPr/>
            <p:nvPr/>
          </p:nvSpPr>
          <p:spPr>
            <a:xfrm rot="5400000">
              <a:off x="-893204" y="1765438"/>
              <a:ext cx="1958102" cy="167759"/>
            </a:xfrm>
            <a:prstGeom prst="corner">
              <a:avLst>
                <a:gd fmla="val 1000" name="adj1"/>
                <a:gd fmla="val 1000" name="adj2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7"/>
            <p:cNvSpPr/>
            <p:nvPr/>
          </p:nvSpPr>
          <p:spPr>
            <a:xfrm>
              <a:off x="1966" y="2828369"/>
              <a:ext cx="2096995" cy="652700"/>
            </a:xfrm>
            <a:prstGeom prst="homePlate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7"/>
            <p:cNvSpPr txBox="1"/>
            <p:nvPr/>
          </p:nvSpPr>
          <p:spPr>
            <a:xfrm>
              <a:off x="1966" y="2828369"/>
              <a:ext cx="2015408" cy="6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76200" spcFirstLastPara="1" rIns="76200" wrap="square" tIns="152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Open Sans"/>
                <a:buNone/>
              </a:pPr>
              <a:r>
                <a:rPr lang="en" sz="12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Week 1</a:t>
              </a:r>
              <a:endParaRPr sz="1100"/>
            </a:p>
          </p:txBody>
        </p:sp>
        <p:sp>
          <p:nvSpPr>
            <p:cNvPr id="296" name="Google Shape;296;p37"/>
            <p:cNvSpPr/>
            <p:nvPr/>
          </p:nvSpPr>
          <p:spPr>
            <a:xfrm>
              <a:off x="169726" y="970923"/>
              <a:ext cx="1702760" cy="1756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7"/>
            <p:cNvSpPr txBox="1"/>
            <p:nvPr/>
          </p:nvSpPr>
          <p:spPr>
            <a:xfrm>
              <a:off x="72345" y="970908"/>
              <a:ext cx="1868100" cy="175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Open Sans"/>
                <a:buChar char="●"/>
              </a:pPr>
              <a:r>
                <a:rPr lang="en" sz="9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Core framework MVP</a:t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Open Sans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8" name="Google Shape;298;p37"/>
            <p:cNvSpPr/>
            <p:nvPr/>
          </p:nvSpPr>
          <p:spPr>
            <a:xfrm rot="5400000">
              <a:off x="1098941" y="1765438"/>
              <a:ext cx="1958102" cy="167759"/>
            </a:xfrm>
            <a:prstGeom prst="corner">
              <a:avLst>
                <a:gd fmla="val 1000" name="adj1"/>
                <a:gd fmla="val 1000" name="adj2"/>
              </a:avLst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7"/>
            <p:cNvSpPr/>
            <p:nvPr/>
          </p:nvSpPr>
          <p:spPr>
            <a:xfrm>
              <a:off x="1994112" y="2828369"/>
              <a:ext cx="2096995" cy="652700"/>
            </a:xfrm>
            <a:prstGeom prst="chevron">
              <a:avLst>
                <a:gd fmla="val 25000" name="adj"/>
              </a:avLst>
            </a:prstGeom>
            <a:solidFill>
              <a:schemeClr val="accent5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7"/>
            <p:cNvSpPr txBox="1"/>
            <p:nvPr/>
          </p:nvSpPr>
          <p:spPr>
            <a:xfrm>
              <a:off x="2157287" y="2828369"/>
              <a:ext cx="1770645" cy="6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76200" spcFirstLastPara="1" rIns="76200" wrap="square" tIns="152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Open Sans"/>
                <a:buNone/>
              </a:pPr>
              <a:r>
                <a:rPr lang="en" sz="12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Week 2</a:t>
              </a:r>
              <a:endParaRPr sz="1100"/>
            </a:p>
          </p:txBody>
        </p:sp>
        <p:sp>
          <p:nvSpPr>
            <p:cNvPr id="301" name="Google Shape;301;p37"/>
            <p:cNvSpPr/>
            <p:nvPr/>
          </p:nvSpPr>
          <p:spPr>
            <a:xfrm>
              <a:off x="2161872" y="970923"/>
              <a:ext cx="1702760" cy="1756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7"/>
            <p:cNvSpPr txBox="1"/>
            <p:nvPr/>
          </p:nvSpPr>
          <p:spPr>
            <a:xfrm>
              <a:off x="1996545" y="970908"/>
              <a:ext cx="2015400" cy="175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Open Sans"/>
                <a:buChar char="●"/>
              </a:pPr>
              <a:r>
                <a:rPr lang="en" sz="9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Basic documentation</a:t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4572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Open Sans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3" name="Google Shape;303;p37"/>
            <p:cNvSpPr/>
            <p:nvPr/>
          </p:nvSpPr>
          <p:spPr>
            <a:xfrm rot="5400000">
              <a:off x="3091087" y="1765438"/>
              <a:ext cx="1958102" cy="167759"/>
            </a:xfrm>
            <a:prstGeom prst="corner">
              <a:avLst>
                <a:gd fmla="val 1000" name="adj1"/>
                <a:gd fmla="val 1000" name="adj2"/>
              </a:avLst>
            </a:prstGeom>
            <a:solidFill>
              <a:schemeClr val="lt1"/>
            </a:solidFill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3986258" y="2828369"/>
              <a:ext cx="2096995" cy="652700"/>
            </a:xfrm>
            <a:prstGeom prst="chevron">
              <a:avLst>
                <a:gd fmla="val 25000" name="adj"/>
              </a:avLst>
            </a:prstGeom>
            <a:solidFill>
              <a:schemeClr val="accent3"/>
            </a:solidFill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7"/>
            <p:cNvSpPr txBox="1"/>
            <p:nvPr/>
          </p:nvSpPr>
          <p:spPr>
            <a:xfrm>
              <a:off x="4149433" y="2828369"/>
              <a:ext cx="1770645" cy="6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76200" spcFirstLastPara="1" rIns="76200" wrap="square" tIns="152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Open Sans"/>
                <a:buNone/>
              </a:pPr>
              <a:r>
                <a:rPr lang="en" sz="12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Week 2</a:t>
              </a:r>
              <a:endParaRPr sz="1100"/>
            </a:p>
          </p:txBody>
        </p:sp>
        <p:sp>
          <p:nvSpPr>
            <p:cNvPr id="306" name="Google Shape;306;p37"/>
            <p:cNvSpPr/>
            <p:nvPr/>
          </p:nvSpPr>
          <p:spPr>
            <a:xfrm>
              <a:off x="4154017" y="970923"/>
              <a:ext cx="1702760" cy="1756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7"/>
            <p:cNvSpPr txBox="1"/>
            <p:nvPr/>
          </p:nvSpPr>
          <p:spPr>
            <a:xfrm>
              <a:off x="4154017" y="970923"/>
              <a:ext cx="1702760" cy="1756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28575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Open Sans"/>
                <a:buChar char="●"/>
              </a:pPr>
              <a:r>
                <a:rPr lang="en" sz="9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3 demo use cases</a:t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Open Sans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8" name="Google Shape;308;p37"/>
            <p:cNvSpPr/>
            <p:nvPr/>
          </p:nvSpPr>
          <p:spPr>
            <a:xfrm rot="5400000">
              <a:off x="5083232" y="1765438"/>
              <a:ext cx="1958102" cy="167759"/>
            </a:xfrm>
            <a:prstGeom prst="corner">
              <a:avLst>
                <a:gd fmla="val 1000" name="adj1"/>
                <a:gd fmla="val 1000" name="adj2"/>
              </a:avLst>
            </a:prstGeom>
            <a:solidFill>
              <a:schemeClr val="lt1"/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7"/>
            <p:cNvSpPr/>
            <p:nvPr/>
          </p:nvSpPr>
          <p:spPr>
            <a:xfrm>
              <a:off x="5978403" y="2828369"/>
              <a:ext cx="2096995" cy="652700"/>
            </a:xfrm>
            <a:prstGeom prst="chevron">
              <a:avLst>
                <a:gd fmla="val 25000" name="adj"/>
              </a:avLst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7"/>
            <p:cNvSpPr txBox="1"/>
            <p:nvPr/>
          </p:nvSpPr>
          <p:spPr>
            <a:xfrm>
              <a:off x="6141578" y="2828369"/>
              <a:ext cx="1770645" cy="6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76200" spcFirstLastPara="1" rIns="76200" wrap="square" tIns="152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Open Sans"/>
                <a:buNone/>
              </a:pPr>
              <a:r>
                <a:rPr lang="en" sz="12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Week 3</a:t>
              </a:r>
              <a:endParaRPr sz="1100"/>
            </a:p>
          </p:txBody>
        </p:sp>
        <p:sp>
          <p:nvSpPr>
            <p:cNvPr id="311" name="Google Shape;311;p37"/>
            <p:cNvSpPr/>
            <p:nvPr/>
          </p:nvSpPr>
          <p:spPr>
            <a:xfrm>
              <a:off x="6146163" y="970923"/>
              <a:ext cx="1702760" cy="1756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7"/>
            <p:cNvSpPr txBox="1"/>
            <p:nvPr/>
          </p:nvSpPr>
          <p:spPr>
            <a:xfrm>
              <a:off x="6146163" y="970923"/>
              <a:ext cx="1702760" cy="1756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Open Sans"/>
                <a:buChar char="●"/>
              </a:pPr>
              <a:r>
                <a:rPr lang="en" sz="9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Full documentation website</a:t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171450" lvl="0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Open Sans"/>
                <a:buChar char="●"/>
              </a:pPr>
              <a:r>
                <a:rPr lang="en" sz="9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10+ example notebooks</a:t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3" name="Google Shape;313;p37"/>
            <p:cNvSpPr/>
            <p:nvPr/>
          </p:nvSpPr>
          <p:spPr>
            <a:xfrm rot="5400000">
              <a:off x="7075378" y="1765438"/>
              <a:ext cx="1958102" cy="167759"/>
            </a:xfrm>
            <a:prstGeom prst="corner">
              <a:avLst>
                <a:gd fmla="val 1000" name="adj1"/>
                <a:gd fmla="val 1000" name="adj2"/>
              </a:avLst>
            </a:prstGeom>
            <a:solidFill>
              <a:schemeClr val="lt1"/>
            </a:solidFill>
            <a:ln cap="flat" cmpd="sng" w="12700">
              <a:solidFill>
                <a:srgbClr val="1A97F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7"/>
            <p:cNvSpPr/>
            <p:nvPr/>
          </p:nvSpPr>
          <p:spPr>
            <a:xfrm>
              <a:off x="7970549" y="2828369"/>
              <a:ext cx="2096995" cy="652700"/>
            </a:xfrm>
            <a:prstGeom prst="chevron">
              <a:avLst>
                <a:gd fmla="val 25000" name="adj"/>
              </a:avLst>
            </a:prstGeom>
            <a:solidFill>
              <a:srgbClr val="1A97FC"/>
            </a:solidFill>
            <a:ln cap="flat" cmpd="sng" w="12700">
              <a:solidFill>
                <a:srgbClr val="1A97F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7"/>
            <p:cNvSpPr txBox="1"/>
            <p:nvPr/>
          </p:nvSpPr>
          <p:spPr>
            <a:xfrm>
              <a:off x="8133724" y="2828369"/>
              <a:ext cx="1770645" cy="6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76200" spcFirstLastPara="1" rIns="76200" wrap="square" tIns="152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Open Sans"/>
                <a:buNone/>
              </a:pPr>
              <a:r>
                <a:rPr lang="en" sz="12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Week 3</a:t>
              </a:r>
              <a:endPara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6" name="Google Shape;316;p37"/>
            <p:cNvSpPr/>
            <p:nvPr/>
          </p:nvSpPr>
          <p:spPr>
            <a:xfrm>
              <a:off x="8138309" y="970923"/>
              <a:ext cx="1702760" cy="1374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7"/>
            <p:cNvSpPr txBox="1"/>
            <p:nvPr/>
          </p:nvSpPr>
          <p:spPr>
            <a:xfrm>
              <a:off x="8138309" y="970923"/>
              <a:ext cx="1702760" cy="1374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22860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Open Sans"/>
                <a:buChar char="●"/>
              </a:pPr>
              <a:r>
                <a:rPr lang="en" sz="9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Discord community launch</a:t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171450" lvl="0" marL="22860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Open Sans"/>
                <a:buChar char="●"/>
              </a:pPr>
              <a:r>
                <a:rPr lang="en" sz="9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Framework launch to pypi</a:t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Open Sans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18" name="Google Shape;318;p3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 txBox="1"/>
          <p:nvPr>
            <p:ph type="title"/>
          </p:nvPr>
        </p:nvSpPr>
        <p:spPr>
          <a:xfrm>
            <a:off x="645363" y="407973"/>
            <a:ext cx="37386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24" name="Google Shape;324;p38"/>
          <p:cNvSpPr txBox="1"/>
          <p:nvPr>
            <p:ph idx="1" type="body"/>
          </p:nvPr>
        </p:nvSpPr>
        <p:spPr>
          <a:xfrm>
            <a:off x="384375" y="1655100"/>
            <a:ext cx="65592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" sz="1900"/>
              <a:t>We’re not just entering a hackathon, we’re launching the foundation for Africa’s NLP ecosystem. </a:t>
            </a:r>
            <a:endParaRPr sz="1900"/>
          </a:p>
        </p:txBody>
      </p:sp>
      <p:pic>
        <p:nvPicPr>
          <p:cNvPr id="325" name="Google Shape;325;p38" title="AAEAAQAAAAAAAAi0AAAAJGVjM2JjNmUxLTk3M2QtNDdmNS04ZDhlLTU3MzhjNmZlYmEzZQ-removebg-preview.png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822" y="1942448"/>
            <a:ext cx="4167400" cy="2386800"/>
          </a:xfrm>
          <a:prstGeom prst="rect">
            <a:avLst/>
          </a:prstGeom>
          <a:noFill/>
        </p:spPr>
      </p:pic>
      <p:sp>
        <p:nvSpPr>
          <p:cNvPr id="326" name="Google Shape;326;p3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38"/>
          <p:cNvSpPr txBox="1"/>
          <p:nvPr/>
        </p:nvSpPr>
        <p:spPr>
          <a:xfrm>
            <a:off x="645375" y="2994050"/>
            <a:ext cx="4069200" cy="17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From healthcare to agriculture to governance, this framework enables African innovation across every sector.</a:t>
            </a:r>
            <a:endParaRPr sz="1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/>
          <p:nvPr>
            <p:ph type="title"/>
          </p:nvPr>
        </p:nvSpPr>
        <p:spPr>
          <a:xfrm>
            <a:off x="434043" y="259873"/>
            <a:ext cx="6088241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Open Sans"/>
              <a:buNone/>
            </a:pPr>
            <a:r>
              <a:rPr lang="en"/>
              <a:t>Team</a:t>
            </a:r>
            <a:endParaRPr/>
          </a:p>
        </p:txBody>
      </p:sp>
      <p:sp>
        <p:nvSpPr>
          <p:cNvPr id="333" name="Google Shape;333;p39"/>
          <p:cNvSpPr txBox="1"/>
          <p:nvPr>
            <p:ph idx="1" type="body"/>
          </p:nvPr>
        </p:nvSpPr>
        <p:spPr>
          <a:xfrm>
            <a:off x="4914893" y="3739825"/>
            <a:ext cx="17145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"/>
              <a:t>Rogendo</a:t>
            </a:r>
            <a:endParaRPr/>
          </a:p>
        </p:txBody>
      </p:sp>
      <p:sp>
        <p:nvSpPr>
          <p:cNvPr id="334" name="Google Shape;334;p39"/>
          <p:cNvSpPr txBox="1"/>
          <p:nvPr>
            <p:ph idx="7" type="body"/>
          </p:nvPr>
        </p:nvSpPr>
        <p:spPr>
          <a:xfrm>
            <a:off x="2621181" y="3763301"/>
            <a:ext cx="1714500" cy="262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254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"/>
              <a:t>Kioko</a:t>
            </a:r>
            <a:endParaRPr/>
          </a:p>
        </p:txBody>
      </p:sp>
      <p:sp>
        <p:nvSpPr>
          <p:cNvPr id="335" name="Google Shape;335;p39"/>
          <p:cNvSpPr txBox="1"/>
          <p:nvPr>
            <p:ph idx="8" type="body"/>
          </p:nvPr>
        </p:nvSpPr>
        <p:spPr>
          <a:xfrm>
            <a:off x="2621181" y="4014039"/>
            <a:ext cx="1714500" cy="262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254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336" name="Google Shape;336;p39"/>
          <p:cNvSpPr txBox="1"/>
          <p:nvPr>
            <p:ph idx="13" type="body"/>
          </p:nvPr>
        </p:nvSpPr>
        <p:spPr>
          <a:xfrm>
            <a:off x="4551202" y="4026026"/>
            <a:ext cx="171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254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337" name="Google Shape;337;p39"/>
          <p:cNvSpPr txBox="1"/>
          <p:nvPr>
            <p:ph idx="12" type="sldNum"/>
          </p:nvPr>
        </p:nvSpPr>
        <p:spPr>
          <a:xfrm>
            <a:off x="6457950" y="462031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0"/>
          <p:cNvSpPr txBox="1"/>
          <p:nvPr>
            <p:ph type="title"/>
          </p:nvPr>
        </p:nvSpPr>
        <p:spPr>
          <a:xfrm>
            <a:off x="1203681" y="670583"/>
            <a:ext cx="3886301" cy="19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Open Sans"/>
              <a:buNone/>
            </a:pPr>
            <a:r>
              <a:rPr lang="en"/>
              <a:t>THANK YOU</a:t>
            </a:r>
            <a:endParaRPr/>
          </a:p>
        </p:txBody>
      </p:sp>
      <p:pic>
        <p:nvPicPr>
          <p:cNvPr descr="Aerial view of a container ship" id="344" name="Google Shape;344;p40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3870" y="0"/>
            <a:ext cx="2150130" cy="2193783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0"/>
          <p:cNvSpPr txBox="1"/>
          <p:nvPr>
            <p:ph idx="1" type="body"/>
          </p:nvPr>
        </p:nvSpPr>
        <p:spPr>
          <a:xfrm>
            <a:off x="1203679" y="2796319"/>
            <a:ext cx="3886301" cy="19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Rogendo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"/>
              <a:t>rogendopeter@gmail.com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346" name="Google Shape;346;p40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0" l="11071" r="11071" t="0"/>
          <a:stretch/>
        </p:blipFill>
        <p:spPr>
          <a:xfrm>
            <a:off x="6348920" y="2450987"/>
            <a:ext cx="2795079" cy="269251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8" name="Google Shape;348;p40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0" l="16666" r="16666" t="0"/>
          <a:stretch/>
        </p:blipFill>
        <p:spPr>
          <a:xfrm>
            <a:off x="5347502" y="1392170"/>
            <a:ext cx="1530506" cy="1530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radientVTI">
  <a:themeElements>
    <a:clrScheme name="Gradient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